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A81CFB-8B34-452A-86AC-3481106D996E}" v="44" dt="2026-08-12T16:07:33.1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5176" y="924387"/>
            <a:ext cx="10963275" cy="970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5305440" cy="454456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27660" y="9554077"/>
            <a:ext cx="3560338" cy="732937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14537" y="3968719"/>
            <a:ext cx="6002655" cy="1854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48184" y="4619280"/>
            <a:ext cx="14491816" cy="31079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lang="en-IN" sz="40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Name:</a:t>
            </a: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CODE PREDATORS</a:t>
            </a:r>
            <a:endParaRPr sz="4000" dirty="0">
              <a:latin typeface="Arial"/>
              <a:cs typeface="Arial"/>
            </a:endParaRPr>
          </a:p>
          <a:p>
            <a:pPr marL="12700" marR="5080">
              <a:lnSpc>
                <a:spcPts val="9450"/>
              </a:lnSpc>
              <a:spcBef>
                <a:spcPts val="890"/>
              </a:spcBef>
            </a:pP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40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Leader</a:t>
            </a:r>
            <a:r>
              <a:rPr sz="4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Name:</a:t>
            </a:r>
            <a:r>
              <a:rPr lang="en-IN" sz="4000" b="1" spc="-10" dirty="0">
                <a:solidFill>
                  <a:srgbClr val="FFFFFF"/>
                </a:solidFill>
                <a:latin typeface="Arial"/>
                <a:cs typeface="Arial"/>
              </a:rPr>
              <a:t>A.POORNA SAI</a:t>
            </a:r>
          </a:p>
          <a:p>
            <a:pPr marL="12700" marR="5080">
              <a:lnSpc>
                <a:spcPts val="9450"/>
              </a:lnSpc>
              <a:spcBef>
                <a:spcPts val="890"/>
              </a:spcBef>
            </a:pPr>
            <a:r>
              <a:rPr sz="4000" b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dirty="0">
                <a:solidFill>
                  <a:srgbClr val="FFFFFF"/>
                </a:solidFill>
                <a:latin typeface="Arial"/>
                <a:cs typeface="Arial"/>
              </a:rPr>
              <a:t>Team</a:t>
            </a:r>
            <a:r>
              <a:rPr sz="40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4000" b="1" spc="-10" dirty="0" err="1">
                <a:solidFill>
                  <a:srgbClr val="FFFFFF"/>
                </a:solidFill>
                <a:latin typeface="Arial"/>
                <a:cs typeface="Arial"/>
              </a:rPr>
              <a:t>Members:</a:t>
            </a:r>
            <a:r>
              <a:rPr lang="en-US" sz="4000" b="1" spc="-10" dirty="0" err="1">
                <a:solidFill>
                  <a:srgbClr val="FFFFFF"/>
                </a:solidFill>
                <a:latin typeface="Arial"/>
                <a:cs typeface="Arial"/>
              </a:rPr>
              <a:t>K</a:t>
            </a:r>
            <a:r>
              <a:rPr lang="en-US" sz="4000" b="1" spc="-10">
                <a:solidFill>
                  <a:srgbClr val="FFFFFF"/>
                </a:solidFill>
                <a:latin typeface="Arial"/>
                <a:cs typeface="Arial"/>
              </a:rPr>
              <a:t>.</a:t>
            </a:r>
            <a:r>
              <a:rPr lang="en-IN" sz="4000" b="1" spc="-10">
                <a:solidFill>
                  <a:srgbClr val="FFFFFF"/>
                </a:solidFill>
                <a:latin typeface="Arial"/>
                <a:cs typeface="Arial"/>
              </a:rPr>
              <a:t>KARTEEK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0179810" y="1743347"/>
            <a:ext cx="7498589" cy="17363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800" b="1" dirty="0"/>
              <a:t>X-RAY TO FINDING:</a:t>
            </a:r>
            <a:br>
              <a:rPr lang="en-IN" sz="2800" b="1" dirty="0"/>
            </a:br>
            <a:r>
              <a:rPr lang="en-IN" sz="2800" b="1" dirty="0"/>
              <a:t>Faster Than the Conventional Workflow</a:t>
            </a:r>
            <a:br>
              <a:rPr lang="en-IN" sz="2800" b="1" dirty="0"/>
            </a:br>
            <a:r>
              <a:rPr lang="en-IN" sz="2800" b="1" dirty="0"/>
              <a:t>AI-Powered X-Ray Body-Part Problem Detection &amp; Localization</a:t>
            </a:r>
            <a:endParaRPr lang="en-IN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60" y="9554077"/>
            <a:ext cx="3560338" cy="73293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Arial MT"/>
                <a:cs typeface="Arial MT"/>
              </a:rPr>
              <a:t>Problem</a:t>
            </a:r>
            <a:r>
              <a:rPr sz="6200" spc="-180" dirty="0">
                <a:latin typeface="Arial MT"/>
                <a:cs typeface="Arial MT"/>
              </a:rPr>
              <a:t> </a:t>
            </a:r>
            <a:r>
              <a:rPr sz="6200" spc="-10" dirty="0">
                <a:latin typeface="Arial MT"/>
                <a:cs typeface="Arial MT"/>
              </a:rPr>
              <a:t>Statement</a:t>
            </a:r>
            <a:endParaRPr sz="6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636" y="0"/>
            <a:ext cx="2028824" cy="11048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518727" y="2187126"/>
            <a:ext cx="16414698" cy="7399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The X-Ray Is Ready. Why Isn't the Finding?</a:t>
            </a:r>
          </a:p>
          <a:p>
            <a:r>
              <a:rPr lang="en-IN" sz="2400" dirty="0">
                <a:solidFill>
                  <a:schemeClr val="bg1"/>
                </a:solidFill>
              </a:rPr>
              <a:t>An X-ray can be captured within seconds, but identifying the </a:t>
            </a:r>
            <a:r>
              <a:rPr lang="en-IN" sz="2400" b="1" dirty="0">
                <a:solidFill>
                  <a:schemeClr val="bg1"/>
                </a:solidFill>
              </a:rPr>
              <a:t>specific problem in the body part shown by the X-ray</a:t>
            </a:r>
            <a:r>
              <a:rPr lang="en-IN" sz="2400" dirty="0">
                <a:solidFill>
                  <a:schemeClr val="bg1"/>
                </a:solidFill>
              </a:rPr>
              <a:t> depends on the clinical reporting workflow.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The Time Gap:</a:t>
            </a:r>
          </a:p>
          <a:p>
            <a:r>
              <a:rPr lang="en-IN" sz="2400" dirty="0">
                <a:solidFill>
                  <a:schemeClr val="bg1"/>
                </a:solidFill>
              </a:rPr>
              <a:t>In one published emergency-department study, the </a:t>
            </a:r>
            <a:r>
              <a:rPr lang="en-IN" sz="2400" b="1" dirty="0">
                <a:solidFill>
                  <a:schemeClr val="bg1"/>
                </a:solidFill>
              </a:rPr>
              <a:t>average radiograph reporting turnaround was 23.9 minutes</a:t>
            </a:r>
            <a:r>
              <a:rPr lang="en-IN" sz="2400" dirty="0">
                <a:solidFill>
                  <a:schemeClr val="bg1"/>
                </a:solidFill>
              </a:rPr>
              <a:t> before workflow improvements.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23.9 MINUTES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X-Ray Captured → Waiting → Professional Interpretation → Problem Identified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During this time, patients may experience: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Delayed treatment decisions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Longer waiting in emergency departments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Delayed referrals or further investigations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Greater risk of delayed recognition of important findings </a:t>
            </a:r>
          </a:p>
          <a:p>
            <a:r>
              <a:rPr lang="en-IN" sz="2400" dirty="0">
                <a:solidFill>
                  <a:schemeClr val="bg1"/>
                </a:solidFill>
              </a:rPr>
              <a:t>Immediate radiology reporting has also been associated with fewer interpretation discrepancies in emergency X-ray workflows.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The Problem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The X-ray is available immediately, but the potential problem may take significantly longer to identify.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Our Challenge: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Can we identify the body part, detect its potential problem and show exactly where it is within seconds, so a medical professional can review it sooner?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Arial MT"/>
                <a:cs typeface="Arial MT"/>
              </a:rPr>
              <a:t>PROPOSED</a:t>
            </a:r>
            <a:r>
              <a:rPr sz="6200" spc="-305" dirty="0">
                <a:latin typeface="Arial MT"/>
                <a:cs typeface="Arial MT"/>
              </a:rPr>
              <a:t> </a:t>
            </a:r>
            <a:r>
              <a:rPr sz="6200" spc="-10" dirty="0">
                <a:latin typeface="Arial MT"/>
                <a:cs typeface="Arial MT"/>
              </a:rPr>
              <a:t>SOLUTION: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1" y="2187126"/>
            <a:ext cx="18059398" cy="73994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X-Ray → Body Part → Problem → Location</a:t>
            </a:r>
          </a:p>
          <a:p>
            <a:r>
              <a:rPr lang="en-IN" sz="2400" dirty="0">
                <a:solidFill>
                  <a:schemeClr val="bg1"/>
                </a:solidFill>
              </a:rPr>
              <a:t>An AI-powered system that first identifies the </a:t>
            </a:r>
            <a:r>
              <a:rPr lang="en-IN" sz="2400" b="1" dirty="0">
                <a:solidFill>
                  <a:schemeClr val="bg1"/>
                </a:solidFill>
              </a:rPr>
              <a:t>body part represented by the X-ray</a:t>
            </a:r>
            <a:r>
              <a:rPr lang="en-IN" sz="2400" dirty="0">
                <a:solidFill>
                  <a:schemeClr val="bg1"/>
                </a:solidFill>
              </a:rPr>
              <a:t>, then applies the appropriate specialized model to detect potential problems specific to that body part.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Workflow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Upload X-Ray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Identify Body Part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Select Specialized Model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Detect Potential Problem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Localize Problem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Generate Finding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Professional Verification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Example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X-Ray:</a:t>
            </a:r>
            <a:r>
              <a:rPr lang="en-IN" sz="2400" dirty="0">
                <a:solidFill>
                  <a:schemeClr val="bg1"/>
                </a:solidFill>
              </a:rPr>
              <a:t> Forearm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Body Part:</a:t>
            </a:r>
            <a:r>
              <a:rPr lang="en-IN" sz="2400" dirty="0">
                <a:solidFill>
                  <a:schemeClr val="bg1"/>
                </a:solidFill>
              </a:rPr>
              <a:t> Forearm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Potential Problem:</a:t>
            </a:r>
            <a:r>
              <a:rPr lang="en-IN" sz="2400" dirty="0">
                <a:solidFill>
                  <a:schemeClr val="bg1"/>
                </a:solidFill>
              </a:rPr>
              <a:t> Fracture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Location:</a:t>
            </a:r>
            <a:r>
              <a:rPr lang="en-IN" sz="2400" dirty="0">
                <a:solidFill>
                  <a:schemeClr val="bg1"/>
                </a:solidFill>
              </a:rPr>
              <a:t> Distal radius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Confidence:</a:t>
            </a:r>
            <a:r>
              <a:rPr lang="en-IN" sz="2400" dirty="0">
                <a:solidFill>
                  <a:schemeClr val="bg1"/>
                </a:solidFill>
              </a:rPr>
              <a:t> 94%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→ </a:t>
            </a:r>
            <a:r>
              <a:rPr lang="en-IN" sz="2400" b="1" dirty="0">
                <a:solidFill>
                  <a:schemeClr val="bg1"/>
                </a:solidFill>
              </a:rPr>
              <a:t>Analysis Time:</a:t>
            </a:r>
            <a:r>
              <a:rPr lang="en-IN" sz="2400" dirty="0">
                <a:solidFill>
                  <a:schemeClr val="bg1"/>
                </a:solidFill>
              </a:rPr>
              <a:t> 3.2 seconds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Final Output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Forearm X-Ray</a:t>
            </a:r>
            <a:r>
              <a:rPr lang="en-IN" sz="2400" dirty="0">
                <a:solidFill>
                  <a:schemeClr val="bg1"/>
                </a:solidFill>
              </a:rPr>
              <a:t> →  </a:t>
            </a:r>
            <a:r>
              <a:rPr lang="en-IN" sz="2400" b="1" dirty="0">
                <a:solidFill>
                  <a:schemeClr val="bg1"/>
                </a:solidFill>
              </a:rPr>
              <a:t>Possible Fracture</a:t>
            </a:r>
            <a:r>
              <a:rPr lang="en-IN" sz="2400" dirty="0">
                <a:solidFill>
                  <a:schemeClr val="bg1"/>
                </a:solidFill>
              </a:rPr>
              <a:t> →  </a:t>
            </a:r>
            <a:r>
              <a:rPr lang="en-IN" sz="2400" b="1" dirty="0">
                <a:solidFill>
                  <a:schemeClr val="bg1"/>
                </a:solidFill>
              </a:rPr>
              <a:t>Distal Radius</a:t>
            </a:r>
            <a:r>
              <a:rPr lang="en-IN" sz="2400" dirty="0">
                <a:solidFill>
                  <a:schemeClr val="bg1"/>
                </a:solidFill>
              </a:rPr>
              <a:t> → </a:t>
            </a:r>
            <a:r>
              <a:rPr lang="en-IN" sz="2400" b="1" dirty="0">
                <a:solidFill>
                  <a:schemeClr val="bg1"/>
                </a:solidFill>
              </a:rPr>
              <a:t>94% Confidence</a:t>
            </a:r>
            <a:r>
              <a:rPr lang="en-IN" sz="2400" dirty="0">
                <a:solidFill>
                  <a:schemeClr val="bg1"/>
                </a:solidFill>
              </a:rPr>
              <a:t> →  </a:t>
            </a:r>
            <a:r>
              <a:rPr lang="en-IN" sz="2400" b="1" dirty="0">
                <a:solidFill>
                  <a:schemeClr val="bg1"/>
                </a:solidFill>
              </a:rPr>
              <a:t>3.2 sec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46710" y="9554077"/>
            <a:ext cx="3541288" cy="732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spc="-10" dirty="0">
                <a:latin typeface="Arial MT"/>
                <a:cs typeface="Arial MT"/>
              </a:rPr>
              <a:t>Features</a:t>
            </a:r>
            <a:endParaRPr sz="6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726" y="2187126"/>
            <a:ext cx="15702473" cy="59221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1. Body-Part Identification</a:t>
            </a:r>
          </a:p>
          <a:p>
            <a:r>
              <a:rPr lang="en-IN" sz="3200" dirty="0">
                <a:solidFill>
                  <a:schemeClr val="bg1"/>
                </a:solidFill>
              </a:rPr>
              <a:t>Automatically identifies the anatomical region represented by the uploaded X-ray.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2. Body-Part-Specific Analysis</a:t>
            </a:r>
          </a:p>
          <a:p>
            <a:r>
              <a:rPr lang="en-IN" sz="3200" dirty="0">
                <a:solidFill>
                  <a:schemeClr val="bg1"/>
                </a:solidFill>
              </a:rPr>
              <a:t>Routes the X-ray to the appropriate specialized model.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3. Problem Detection</a:t>
            </a:r>
          </a:p>
          <a:p>
            <a:r>
              <a:rPr lang="en-IN" sz="3200" dirty="0">
                <a:solidFill>
                  <a:schemeClr val="bg1"/>
                </a:solidFill>
              </a:rPr>
              <a:t>Detects potential problems relevant to that particular body part.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4. Problem Localization</a:t>
            </a:r>
          </a:p>
          <a:p>
            <a:r>
              <a:rPr lang="en-IN" sz="3200" dirty="0">
                <a:solidFill>
                  <a:schemeClr val="bg1"/>
                </a:solidFill>
              </a:rPr>
              <a:t>Highlights the suspected problem directly on the X-ray.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5. Rapid Finding</a:t>
            </a:r>
          </a:p>
          <a:p>
            <a:r>
              <a:rPr lang="en-IN" sz="3200" dirty="0">
                <a:solidFill>
                  <a:schemeClr val="bg1"/>
                </a:solidFill>
              </a:rPr>
              <a:t>Provides the potential problem, location, confidence and analysis time.</a:t>
            </a:r>
          </a:p>
          <a:p>
            <a:r>
              <a:rPr lang="en-IN" sz="3200" b="1" dirty="0">
                <a:solidFill>
                  <a:schemeClr val="bg1"/>
                </a:solidFill>
              </a:rPr>
              <a:t>6. Priority Review</a:t>
            </a:r>
          </a:p>
          <a:p>
            <a:r>
              <a:rPr lang="en-IN" sz="3200" dirty="0">
                <a:solidFill>
                  <a:schemeClr val="bg1"/>
                </a:solidFill>
              </a:rPr>
              <a:t>Flags potentially important findings for earlier professional review.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60" y="9554077"/>
            <a:ext cx="3560338" cy="732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spc="-10" dirty="0">
                <a:latin typeface="Arial MT"/>
                <a:cs typeface="Arial MT"/>
              </a:rPr>
              <a:t>Idea/Approach</a:t>
            </a:r>
            <a:endParaRPr sz="6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18727" y="2196651"/>
            <a:ext cx="13873673" cy="66607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How We Solve 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Computer Vision — OpenCV</a:t>
            </a:r>
          </a:p>
          <a:p>
            <a:r>
              <a:rPr lang="en-IN" sz="2400" dirty="0">
                <a:solidFill>
                  <a:schemeClr val="bg1"/>
                </a:solidFill>
              </a:rPr>
              <a:t>X-ray preprocessing, resizing, normalization and image-quality preparation.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Deep Learning — </a:t>
            </a:r>
            <a:r>
              <a:rPr lang="en-IN" sz="2400" b="1" dirty="0" err="1">
                <a:solidFill>
                  <a:schemeClr val="bg1"/>
                </a:solidFill>
              </a:rPr>
              <a:t>PyTorch</a:t>
            </a:r>
            <a:r>
              <a:rPr lang="en-IN" sz="2400" b="1" dirty="0">
                <a:solidFill>
                  <a:schemeClr val="bg1"/>
                </a:solidFill>
              </a:rPr>
              <a:t> / TensorFlow</a:t>
            </a:r>
          </a:p>
          <a:p>
            <a:r>
              <a:rPr lang="en-IN" sz="2400" dirty="0">
                <a:solidFill>
                  <a:schemeClr val="bg1"/>
                </a:solidFill>
              </a:rPr>
              <a:t>Specialized models for different X-ray body parts and their potential problems.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Body-Part Classification</a:t>
            </a:r>
          </a:p>
          <a:p>
            <a:r>
              <a:rPr lang="en-IN" sz="2400" dirty="0">
                <a:solidFill>
                  <a:schemeClr val="bg1"/>
                </a:solidFill>
              </a:rPr>
              <a:t>Determines which anatomical region the X-ray represents.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Problem Detection</a:t>
            </a:r>
          </a:p>
          <a:p>
            <a:r>
              <a:rPr lang="en-IN" sz="2400" dirty="0">
                <a:solidFill>
                  <a:schemeClr val="bg1"/>
                </a:solidFill>
              </a:rPr>
              <a:t>Finds potential problems relevant to the detected body part.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Localization</a:t>
            </a:r>
          </a:p>
          <a:p>
            <a:r>
              <a:rPr lang="en-IN" sz="2400" dirty="0">
                <a:solidFill>
                  <a:schemeClr val="bg1"/>
                </a:solidFill>
              </a:rPr>
              <a:t>Uses techniques such as </a:t>
            </a:r>
            <a:r>
              <a:rPr lang="en-IN" sz="2400" b="1" dirty="0">
                <a:solidFill>
                  <a:schemeClr val="bg1"/>
                </a:solidFill>
              </a:rPr>
              <a:t>Grad-CAM, object detection or segmentation</a:t>
            </a:r>
            <a:r>
              <a:rPr lang="en-IN" sz="2400" dirty="0">
                <a:solidFill>
                  <a:schemeClr val="bg1"/>
                </a:solidFill>
              </a:rPr>
              <a:t> to highlight the suspected region.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Backend — Python + </a:t>
            </a:r>
            <a:r>
              <a:rPr lang="en-IN" sz="2400" b="1" dirty="0" err="1">
                <a:solidFill>
                  <a:schemeClr val="bg1"/>
                </a:solidFill>
              </a:rPr>
              <a:t>FastAPI</a:t>
            </a:r>
            <a:endParaRPr lang="en-IN" sz="2400" b="1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Handles image upload, model inference and result generation.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Frontend — React</a:t>
            </a:r>
          </a:p>
          <a:p>
            <a:r>
              <a:rPr lang="en-IN" sz="2400" dirty="0">
                <a:solidFill>
                  <a:schemeClr val="bg1"/>
                </a:solidFill>
              </a:rPr>
              <a:t>Displays the X-ray, highlighted region, finding, confidence and analysis time.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Database — </a:t>
            </a:r>
            <a:r>
              <a:rPr lang="en-IN" sz="2400" b="1" dirty="0" err="1">
                <a:solidFill>
                  <a:schemeClr val="bg1"/>
                </a:solidFill>
              </a:rPr>
              <a:t>Supabase</a:t>
            </a:r>
            <a:r>
              <a:rPr lang="en-IN" sz="2400" b="1" dirty="0">
                <a:solidFill>
                  <a:schemeClr val="bg1"/>
                </a:solidFill>
              </a:rPr>
              <a:t>/PostgreSQL</a:t>
            </a:r>
          </a:p>
          <a:p>
            <a:r>
              <a:rPr lang="en-IN" sz="2400" dirty="0">
                <a:solidFill>
                  <a:schemeClr val="bg1"/>
                </a:solidFill>
              </a:rPr>
              <a:t>Stores cases and system results.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60" y="9554077"/>
            <a:ext cx="3560338" cy="732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2209800" y="0"/>
            <a:ext cx="1025865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400" dirty="0">
                <a:latin typeface="Arial MT"/>
                <a:cs typeface="Arial MT"/>
              </a:rPr>
              <a:t>System</a:t>
            </a:r>
            <a:r>
              <a:rPr sz="4400" spc="-140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Architecture</a:t>
            </a:r>
            <a:r>
              <a:rPr sz="4400" spc="-140" dirty="0">
                <a:latin typeface="Arial MT"/>
                <a:cs typeface="Arial MT"/>
              </a:rPr>
              <a:t> </a:t>
            </a:r>
            <a:r>
              <a:rPr sz="4400" dirty="0">
                <a:latin typeface="Arial MT"/>
                <a:cs typeface="Arial MT"/>
              </a:rPr>
              <a:t>/</a:t>
            </a:r>
            <a:r>
              <a:rPr lang="en-IN" sz="4400" spc="-140" dirty="0">
                <a:latin typeface="Arial MT"/>
                <a:cs typeface="Arial MT"/>
              </a:rPr>
              <a:t> </a:t>
            </a:r>
            <a:r>
              <a:rPr sz="4400" spc="-10" dirty="0">
                <a:latin typeface="Arial MT"/>
                <a:cs typeface="Arial MT"/>
              </a:rPr>
              <a:t>Workflow</a:t>
            </a:r>
            <a:r>
              <a:rPr lang="en-IN" sz="4400" spc="-10" dirty="0">
                <a:latin typeface="Arial MT"/>
                <a:cs typeface="Arial MT"/>
              </a:rPr>
              <a:t> </a:t>
            </a:r>
            <a:endParaRPr sz="4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5200" y="800100"/>
            <a:ext cx="12801600" cy="96300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X-RAY UPLOAD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        ↓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IMAGE PREPROCESSING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        ↓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BODY-PART CLASSIFIER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        ↓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</a:rPr>
              <a:t>  ┌────────────────┼────────────────┐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</a:rPr>
              <a:t>  ↓                                          ↓                                          ↓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</a:rPr>
              <a:t>CHEST MODEL            BONE MODEL                  DENTAL MODEL</a:t>
            </a: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</a:rPr>
              <a:t>  ↓                                          ↓                                          ↓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</a:rPr>
              <a:t> SPINE MODEL                KNEE MODEL                   OTHER MODELS</a:t>
            </a: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</a:rPr>
              <a:t>  └────────────────┼────────────────┘</a:t>
            </a: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</a:t>
            </a:r>
          </a:p>
          <a:p>
            <a:pPr marL="12700"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         ↓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PROBLEM DETECTION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         ↓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PROBLEM LOCALIZATION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          ↓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┌────────────────────────┐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│ PROBLEM                                        │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│ LOCATION                                      │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│ CONFIDENCE                                  │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│ ANALYSIS TIME                               │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└───────────┬────────────┘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                ↓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400" dirty="0">
                <a:solidFill>
                  <a:schemeClr val="bg1"/>
                </a:solidFill>
                <a:latin typeface="Tahoma"/>
                <a:cs typeface="Tahoma"/>
              </a:rPr>
              <a:t>           PROFESSIONAL REVIEW</a:t>
            </a:r>
            <a:endParaRPr sz="2400" dirty="0">
              <a:solidFill>
                <a:schemeClr val="bg1"/>
              </a:solidFill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60" y="9554077"/>
            <a:ext cx="3560338" cy="732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2028824" y="128732"/>
            <a:ext cx="11687176" cy="96693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200" dirty="0">
                <a:latin typeface="Arial MT"/>
                <a:cs typeface="Arial MT"/>
              </a:rPr>
              <a:t>Innovation</a:t>
            </a:r>
            <a:r>
              <a:rPr sz="6200" spc="-170" dirty="0">
                <a:latin typeface="Arial MT"/>
                <a:cs typeface="Arial MT"/>
              </a:rPr>
              <a:t> </a:t>
            </a:r>
            <a:r>
              <a:rPr sz="6200" dirty="0">
                <a:latin typeface="Arial MT"/>
                <a:cs typeface="Arial MT"/>
              </a:rPr>
              <a:t>&amp;</a:t>
            </a:r>
            <a:r>
              <a:rPr sz="6200" spc="-170" dirty="0">
                <a:latin typeface="Arial MT"/>
                <a:cs typeface="Arial MT"/>
              </a:rPr>
              <a:t> </a:t>
            </a:r>
            <a:r>
              <a:rPr sz="6200" dirty="0">
                <a:latin typeface="Arial MT"/>
                <a:cs typeface="Arial MT"/>
              </a:rPr>
              <a:t>Existing</a:t>
            </a:r>
            <a:r>
              <a:rPr sz="6200" spc="-170" dirty="0">
                <a:latin typeface="Arial MT"/>
                <a:cs typeface="Arial MT"/>
              </a:rPr>
              <a:t> </a:t>
            </a:r>
            <a:r>
              <a:rPr sz="6200" spc="-10" dirty="0">
                <a:latin typeface="Arial MT"/>
                <a:cs typeface="Arial MT"/>
              </a:rPr>
              <a:t>Solutions</a:t>
            </a:r>
            <a:endParaRPr sz="62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75" y="1409700"/>
            <a:ext cx="18847825" cy="8507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What Makes CODE PREDATORS Different?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Existing Workflow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X-Ray → Worklist → Radiologist → Interpretation → Finding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Existing AI systems may focus on individual abnormalities, specific body regions or radiology triage.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Our Proposed Approach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X-Ray → Body-Part Identification → Specialized Analysis → Problem Detection → Localization → Professional Review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Our USP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BODY-PART AWARENESS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+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PROBLEM DETECTION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+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LOCALIZATION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+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SPEED</a:t>
            </a:r>
          </a:p>
          <a:p>
            <a:r>
              <a:rPr lang="en-IN" sz="2400" dirty="0">
                <a:solidFill>
                  <a:schemeClr val="bg1"/>
                </a:solidFill>
              </a:rPr>
              <a:t>Instead of simply:</a:t>
            </a:r>
          </a:p>
          <a:p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bg1"/>
                </a:solidFill>
              </a:rPr>
              <a:t>“Abnormal X-ray detected.”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Our system aims to provide:</a:t>
            </a:r>
          </a:p>
          <a:p>
            <a:r>
              <a:rPr lang="en-IN" sz="240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bg1"/>
                </a:solidFill>
              </a:rPr>
              <a:t>“Forearm X-ray → Possible fracture → Distal radius → 94% confidence → Region highlighted.”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Measurable Innovation</a:t>
            </a:r>
          </a:p>
          <a:p>
            <a:r>
              <a:rPr lang="en-IN" sz="2400" dirty="0">
                <a:solidFill>
                  <a:schemeClr val="bg1"/>
                </a:solidFill>
              </a:rPr>
              <a:t>We compare: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Time from X-ray → potential finding using conventional workflow</a:t>
            </a: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dirty="0">
                <a:solidFill>
                  <a:schemeClr val="bg1"/>
                </a:solidFill>
              </a:rPr>
              <a:t>vs.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Time from X-ray → potential finding using our system</a:t>
            </a:r>
            <a:endParaRPr lang="en-IN" sz="2400" dirty="0">
              <a:solidFill>
                <a:schemeClr val="bg1"/>
              </a:solidFill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60" y="9554077"/>
            <a:ext cx="3560338" cy="732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810000" y="190500"/>
            <a:ext cx="110490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latin typeface="Arial MT"/>
                <a:cs typeface="Arial MT"/>
              </a:rPr>
              <a:t>Impact</a:t>
            </a:r>
            <a:r>
              <a:rPr sz="5400" spc="-114" dirty="0">
                <a:latin typeface="Arial MT"/>
                <a:cs typeface="Arial MT"/>
              </a:rPr>
              <a:t> </a:t>
            </a:r>
            <a:r>
              <a:rPr sz="5400" dirty="0">
                <a:latin typeface="Arial MT"/>
                <a:cs typeface="Arial MT"/>
              </a:rPr>
              <a:t>&amp;</a:t>
            </a:r>
            <a:r>
              <a:rPr sz="5400" spc="-110" dirty="0">
                <a:latin typeface="Arial MT"/>
                <a:cs typeface="Arial MT"/>
              </a:rPr>
              <a:t> </a:t>
            </a:r>
            <a:r>
              <a:rPr sz="5400" dirty="0">
                <a:latin typeface="Arial MT"/>
                <a:cs typeface="Arial MT"/>
              </a:rPr>
              <a:t>Future</a:t>
            </a:r>
            <a:r>
              <a:rPr sz="5400" spc="-110" dirty="0">
                <a:latin typeface="Arial MT"/>
                <a:cs typeface="Arial MT"/>
              </a:rPr>
              <a:t> </a:t>
            </a:r>
            <a:r>
              <a:rPr sz="5400" spc="-10" dirty="0">
                <a:latin typeface="Arial MT"/>
                <a:cs typeface="Arial MT"/>
              </a:rPr>
              <a:t>Scope</a:t>
            </a:r>
            <a:endParaRPr sz="5400" dirty="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575" y="1157431"/>
            <a:ext cx="17933425" cy="850745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IN" sz="2400" b="1" dirty="0">
                <a:solidFill>
                  <a:schemeClr val="bg1"/>
                </a:solidFill>
              </a:rPr>
              <a:t>IMPACT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  Expected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solidFill>
                  <a:schemeClr val="bg1"/>
                </a:solidFill>
              </a:rPr>
              <a:t> </a:t>
            </a:r>
            <a:r>
              <a:rPr lang="en-IN" sz="2400" b="1" dirty="0">
                <a:solidFill>
                  <a:schemeClr val="bg1"/>
                </a:solidFill>
              </a:rPr>
              <a:t>Faster Screening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Identify potential problems immediately after X-ray upload.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Faster Prioritization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Flag potentially important cases for earlier professional review.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Clinical Assistance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Support professionals with rapid preliminary findings and localization.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Scalable Healthcare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Handle large volumes of X-rays efficiently.</a:t>
            </a:r>
          </a:p>
          <a:p>
            <a:br>
              <a:rPr lang="en-IN" sz="2400" dirty="0">
                <a:solidFill>
                  <a:schemeClr val="bg1"/>
                </a:solidFill>
              </a:rPr>
            </a:br>
            <a:endParaRPr lang="en-IN" sz="2400" dirty="0">
              <a:solidFill>
                <a:schemeClr val="bg1"/>
              </a:solidFill>
            </a:endParaRPr>
          </a:p>
          <a:p>
            <a:r>
              <a:rPr lang="en-IN" sz="2400" b="1" dirty="0">
                <a:solidFill>
                  <a:schemeClr val="bg1"/>
                </a:solidFill>
              </a:rPr>
              <a:t> Future Scope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01 — More Body Parts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Expand from initial models to chest, bone, dental, spine, knee and more.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02 — More Problems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Continuously expand the problem-detection model library.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03 — Hospital Integration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Integrate with PACS and radiology workflows.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04 — Clinical Validation</a:t>
            </a:r>
            <a:br>
              <a:rPr lang="en-IN" sz="2400" dirty="0">
                <a:solidFill>
                  <a:schemeClr val="bg1"/>
                </a:solidFill>
              </a:rPr>
            </a:br>
            <a:r>
              <a:rPr lang="en-IN" sz="2400" dirty="0">
                <a:solidFill>
                  <a:schemeClr val="bg1"/>
                </a:solidFill>
              </a:rPr>
              <a:t>Validate accuracy, safety and real-world time savings.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Bottom of slide: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From Rapid Detection → To Real-World Clinical Support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727660" y="9554077"/>
            <a:ext cx="3560338" cy="732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2028824" cy="11048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61726" y="0"/>
            <a:ext cx="2171699" cy="19527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5" dirty="0"/>
              <a:t>Thank</a:t>
            </a:r>
            <a:r>
              <a:rPr spc="540" dirty="0"/>
              <a:t> </a:t>
            </a:r>
            <a:r>
              <a:rPr spc="-944" dirty="0"/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</TotalTime>
  <Words>878</Words>
  <Application>Microsoft Office PowerPoint</Application>
  <PresentationFormat>Custom</PresentationFormat>
  <Paragraphs>127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MT</vt:lpstr>
      <vt:lpstr>Calibri</vt:lpstr>
      <vt:lpstr>Tahoma</vt:lpstr>
      <vt:lpstr>Office Theme</vt:lpstr>
      <vt:lpstr>X-RAY TO FINDING: Faster Than the Conventional Workflow AI-Powered X-Ray Body-Part Problem Detection &amp; Localization</vt:lpstr>
      <vt:lpstr>Problem Statement</vt:lpstr>
      <vt:lpstr>PROPOSED SOLUTION:</vt:lpstr>
      <vt:lpstr>Features</vt:lpstr>
      <vt:lpstr>Idea/Approach</vt:lpstr>
      <vt:lpstr>System Architecture / Workflow </vt:lpstr>
      <vt:lpstr>Innovation &amp; Existing Solutions</vt:lpstr>
      <vt:lpstr>Impact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HackFusion Template</dc:title>
  <dc:creator>Hema Manoj</dc:creator>
  <cp:keywords>DAHRP3OOnmU,BAErOPV7AUQ</cp:keywords>
  <cp:lastModifiedBy>poorna sai</cp:lastModifiedBy>
  <cp:revision>5</cp:revision>
  <dcterms:created xsi:type="dcterms:W3CDTF">2026-08-12T14:57:58Z</dcterms:created>
  <dcterms:modified xsi:type="dcterms:W3CDTF">2026-08-15T05:45:45Z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2026-08-03T00:00:00Z</vt:filetime>
  </property>
  <property fmtid="{D5CDD505-2E9C-101B-9397-08002B2CF9AE}" pid="4" name="Creator">
    <vt:lpwstr>Canva</vt:lpwstr>
  </property>
  <property fmtid="{D5CDD505-2E9C-101B-9397-08002B2CF9AE}" pid="5" name="LastSaved">
    <vt:filetime>2026-08-12T00:00:00Z</vt:filetime>
  </property>
  <property fmtid="{D5CDD505-2E9C-101B-9397-08002B2CF9AE}" pid="6" name="Producer">
    <vt:lpwstr>iLovePDF</vt:lpwstr>
  </property>
</Properties>
</file>